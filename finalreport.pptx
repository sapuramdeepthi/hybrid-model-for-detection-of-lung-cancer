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sldIdLst>
    <p:sldId id="257" r:id="rId2"/>
    <p:sldId id="264" r:id="rId3"/>
    <p:sldId id="263" r:id="rId4"/>
    <p:sldId id="258" r:id="rId5"/>
    <p:sldId id="259" r:id="rId6"/>
    <p:sldId id="266" r:id="rId7"/>
    <p:sldId id="260" r:id="rId8"/>
    <p:sldId id="261" r:id="rId9"/>
    <p:sldId id="262" r:id="rId10"/>
    <p:sldId id="277" r:id="rId11"/>
    <p:sldId id="265" r:id="rId12"/>
    <p:sldId id="276" r:id="rId13"/>
    <p:sldId id="278" r:id="rId14"/>
    <p:sldId id="275" r:id="rId15"/>
    <p:sldId id="285" r:id="rId16"/>
    <p:sldId id="284" r:id="rId17"/>
    <p:sldId id="268" r:id="rId18"/>
    <p:sldId id="274" r:id="rId19"/>
    <p:sldId id="269" r:id="rId20"/>
    <p:sldId id="270" r:id="rId21"/>
    <p:sldId id="272" r:id="rId22"/>
    <p:sldId id="273" r:id="rId23"/>
    <p:sldId id="279" r:id="rId24"/>
    <p:sldId id="286" r:id="rId25"/>
    <p:sldId id="287" r:id="rId26"/>
    <p:sldId id="281" r:id="rId27"/>
    <p:sldId id="280" r:id="rId28"/>
    <p:sldId id="288" r:id="rId29"/>
    <p:sldId id="283" r:id="rId30"/>
    <p:sldId id="267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701E4E-CE24-401D-9C40-2A889C440C7C}" v="12" dt="2025-04-15T04:26:36.80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00" autoAdjust="0"/>
    <p:restoredTop sz="94660"/>
  </p:normalViewPr>
  <p:slideViewPr>
    <p:cSldViewPr snapToGrid="0">
      <p:cViewPr>
        <p:scale>
          <a:sx n="74" d="100"/>
          <a:sy n="74" d="100"/>
        </p:scale>
        <p:origin x="18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 Susmitha" userId="47d603034d7a761e" providerId="LiveId" clId="{3B701E4E-CE24-401D-9C40-2A889C440C7C}"/>
    <pc:docChg chg="custSel addSld delSld modSld">
      <pc:chgData name="G Susmitha" userId="47d603034d7a761e" providerId="LiveId" clId="{3B701E4E-CE24-401D-9C40-2A889C440C7C}" dt="2025-04-15T06:04:51.208" v="641" actId="20577"/>
      <pc:docMkLst>
        <pc:docMk/>
      </pc:docMkLst>
      <pc:sldChg chg="modSp mod">
        <pc:chgData name="G Susmitha" userId="47d603034d7a761e" providerId="LiveId" clId="{3B701E4E-CE24-401D-9C40-2A889C440C7C}" dt="2025-04-15T04:33:34.546" v="620" actId="12"/>
        <pc:sldMkLst>
          <pc:docMk/>
          <pc:sldMk cId="3781366827" sldId="258"/>
        </pc:sldMkLst>
        <pc:spChg chg="mod">
          <ac:chgData name="G Susmitha" userId="47d603034d7a761e" providerId="LiveId" clId="{3B701E4E-CE24-401D-9C40-2A889C440C7C}" dt="2025-04-15T04:33:34.546" v="620" actId="12"/>
          <ac:spMkLst>
            <pc:docMk/>
            <pc:sldMk cId="3781366827" sldId="258"/>
            <ac:spMk id="3" creationId="{135A977D-393F-478E-8A41-9A440B657EAB}"/>
          </ac:spMkLst>
        </pc:spChg>
      </pc:sldChg>
      <pc:sldChg chg="modSp mod">
        <pc:chgData name="G Susmitha" userId="47d603034d7a761e" providerId="LiveId" clId="{3B701E4E-CE24-401D-9C40-2A889C440C7C}" dt="2025-04-15T04:33:45.246" v="621" actId="12"/>
        <pc:sldMkLst>
          <pc:docMk/>
          <pc:sldMk cId="3002243373" sldId="259"/>
        </pc:sldMkLst>
        <pc:spChg chg="mod">
          <ac:chgData name="G Susmitha" userId="47d603034d7a761e" providerId="LiveId" clId="{3B701E4E-CE24-401D-9C40-2A889C440C7C}" dt="2025-04-15T04:33:45.246" v="621" actId="12"/>
          <ac:spMkLst>
            <pc:docMk/>
            <pc:sldMk cId="3002243373" sldId="259"/>
            <ac:spMk id="3" creationId="{44F00B26-7E62-42A5-A5E3-3B7C8A42B0CD}"/>
          </ac:spMkLst>
        </pc:spChg>
      </pc:sldChg>
      <pc:sldChg chg="modSp mod">
        <pc:chgData name="G Susmitha" userId="47d603034d7a761e" providerId="LiveId" clId="{3B701E4E-CE24-401D-9C40-2A889C440C7C}" dt="2025-04-15T04:34:51.194" v="622" actId="12"/>
        <pc:sldMkLst>
          <pc:docMk/>
          <pc:sldMk cId="3946039204" sldId="260"/>
        </pc:sldMkLst>
        <pc:spChg chg="mod">
          <ac:chgData name="G Susmitha" userId="47d603034d7a761e" providerId="LiveId" clId="{3B701E4E-CE24-401D-9C40-2A889C440C7C}" dt="2025-04-15T04:34:51.194" v="622" actId="12"/>
          <ac:spMkLst>
            <pc:docMk/>
            <pc:sldMk cId="3946039204" sldId="260"/>
            <ac:spMk id="3" creationId="{2D7C7706-0F90-40BA-8D26-A651D0501A81}"/>
          </ac:spMkLst>
        </pc:spChg>
      </pc:sldChg>
      <pc:sldChg chg="modSp mod">
        <pc:chgData name="G Susmitha" userId="47d603034d7a761e" providerId="LiveId" clId="{3B701E4E-CE24-401D-9C40-2A889C440C7C}" dt="2025-04-15T04:35:08.812" v="623" actId="12"/>
        <pc:sldMkLst>
          <pc:docMk/>
          <pc:sldMk cId="1146965859" sldId="261"/>
        </pc:sldMkLst>
        <pc:spChg chg="mod">
          <ac:chgData name="G Susmitha" userId="47d603034d7a761e" providerId="LiveId" clId="{3B701E4E-CE24-401D-9C40-2A889C440C7C}" dt="2025-04-15T04:35:08.812" v="623" actId="12"/>
          <ac:spMkLst>
            <pc:docMk/>
            <pc:sldMk cId="1146965859" sldId="261"/>
            <ac:spMk id="3" creationId="{87FC8D89-36A8-43CD-B558-33A064DB4384}"/>
          </ac:spMkLst>
        </pc:spChg>
      </pc:sldChg>
      <pc:sldChg chg="modSp mod">
        <pc:chgData name="G Susmitha" userId="47d603034d7a761e" providerId="LiveId" clId="{3B701E4E-CE24-401D-9C40-2A889C440C7C}" dt="2025-04-15T04:29:40.573" v="606" actId="255"/>
        <pc:sldMkLst>
          <pc:docMk/>
          <pc:sldMk cId="2293286675" sldId="264"/>
        </pc:sldMkLst>
        <pc:spChg chg="mod">
          <ac:chgData name="G Susmitha" userId="47d603034d7a761e" providerId="LiveId" clId="{3B701E4E-CE24-401D-9C40-2A889C440C7C}" dt="2025-04-15T04:29:40.573" v="606" actId="255"/>
          <ac:spMkLst>
            <pc:docMk/>
            <pc:sldMk cId="2293286675" sldId="264"/>
            <ac:spMk id="4" creationId="{72794A00-FBC6-48E4-8AA4-8B15273388D9}"/>
          </ac:spMkLst>
        </pc:spChg>
      </pc:sldChg>
      <pc:sldChg chg="addSp modSp mod">
        <pc:chgData name="G Susmitha" userId="47d603034d7a761e" providerId="LiveId" clId="{3B701E4E-CE24-401D-9C40-2A889C440C7C}" dt="2025-04-15T04:20:01.584" v="150" actId="1036"/>
        <pc:sldMkLst>
          <pc:docMk/>
          <pc:sldMk cId="3142206917" sldId="265"/>
        </pc:sldMkLst>
        <pc:spChg chg="add mod">
          <ac:chgData name="G Susmitha" userId="47d603034d7a761e" providerId="LiveId" clId="{3B701E4E-CE24-401D-9C40-2A889C440C7C}" dt="2025-04-15T04:20:01.584" v="150" actId="1036"/>
          <ac:spMkLst>
            <pc:docMk/>
            <pc:sldMk cId="3142206917" sldId="265"/>
            <ac:spMk id="2" creationId="{FE31C634-27C6-C8FB-5964-1D9C244433F1}"/>
          </ac:spMkLst>
        </pc:spChg>
      </pc:sldChg>
      <pc:sldChg chg="modSp mod">
        <pc:chgData name="G Susmitha" userId="47d603034d7a761e" providerId="LiveId" clId="{3B701E4E-CE24-401D-9C40-2A889C440C7C}" dt="2025-04-15T04:35:56.720" v="624" actId="12"/>
        <pc:sldMkLst>
          <pc:docMk/>
          <pc:sldMk cId="1733726772" sldId="269"/>
        </pc:sldMkLst>
        <pc:spChg chg="mod">
          <ac:chgData name="G Susmitha" userId="47d603034d7a761e" providerId="LiveId" clId="{3B701E4E-CE24-401D-9C40-2A889C440C7C}" dt="2025-04-15T04:35:56.720" v="624" actId="12"/>
          <ac:spMkLst>
            <pc:docMk/>
            <pc:sldMk cId="1733726772" sldId="269"/>
            <ac:spMk id="3" creationId="{9C277F14-37ED-4055-89B6-6908A998FB2A}"/>
          </ac:spMkLst>
        </pc:spChg>
      </pc:sldChg>
      <pc:sldChg chg="modSp mod">
        <pc:chgData name="G Susmitha" userId="47d603034d7a761e" providerId="LiveId" clId="{3B701E4E-CE24-401D-9C40-2A889C440C7C}" dt="2025-04-15T04:36:06.895" v="625" actId="12"/>
        <pc:sldMkLst>
          <pc:docMk/>
          <pc:sldMk cId="867555759" sldId="272"/>
        </pc:sldMkLst>
        <pc:spChg chg="mod">
          <ac:chgData name="G Susmitha" userId="47d603034d7a761e" providerId="LiveId" clId="{3B701E4E-CE24-401D-9C40-2A889C440C7C}" dt="2025-04-15T04:36:06.895" v="625" actId="12"/>
          <ac:spMkLst>
            <pc:docMk/>
            <pc:sldMk cId="867555759" sldId="272"/>
            <ac:spMk id="3" creationId="{280E9D1A-F928-4C46-B95A-62BE95E0D74D}"/>
          </ac:spMkLst>
        </pc:spChg>
      </pc:sldChg>
      <pc:sldChg chg="addSp modSp mod">
        <pc:chgData name="G Susmitha" userId="47d603034d7a761e" providerId="LiveId" clId="{3B701E4E-CE24-401D-9C40-2A889C440C7C}" dt="2025-04-15T04:21:53.549" v="326" actId="1076"/>
        <pc:sldMkLst>
          <pc:docMk/>
          <pc:sldMk cId="159752192" sldId="275"/>
        </pc:sldMkLst>
        <pc:spChg chg="mod">
          <ac:chgData name="G Susmitha" userId="47d603034d7a761e" providerId="LiveId" clId="{3B701E4E-CE24-401D-9C40-2A889C440C7C}" dt="2025-04-15T04:21:06.407" v="269" actId="1076"/>
          <ac:spMkLst>
            <pc:docMk/>
            <pc:sldMk cId="159752192" sldId="275"/>
            <ac:spMk id="2" creationId="{8E3D5743-F278-4ABF-843D-08B85F29F4D7}"/>
          </ac:spMkLst>
        </pc:spChg>
        <pc:spChg chg="add mod">
          <ac:chgData name="G Susmitha" userId="47d603034d7a761e" providerId="LiveId" clId="{3B701E4E-CE24-401D-9C40-2A889C440C7C}" dt="2025-04-15T04:21:53.549" v="326" actId="1076"/>
          <ac:spMkLst>
            <pc:docMk/>
            <pc:sldMk cId="159752192" sldId="275"/>
            <ac:spMk id="3" creationId="{2110A584-A631-7D6F-05FE-F7835D1F4177}"/>
          </ac:spMkLst>
        </pc:spChg>
        <pc:picChg chg="mod">
          <ac:chgData name="G Susmitha" userId="47d603034d7a761e" providerId="LiveId" clId="{3B701E4E-CE24-401D-9C40-2A889C440C7C}" dt="2025-04-15T04:21:18.458" v="271" actId="1076"/>
          <ac:picMkLst>
            <pc:docMk/>
            <pc:sldMk cId="159752192" sldId="275"/>
            <ac:picMk id="5" creationId="{323F0AB0-5D49-F111-B2D8-08D298801035}"/>
          </ac:picMkLst>
        </pc:picChg>
      </pc:sldChg>
      <pc:sldChg chg="addSp modSp mod">
        <pc:chgData name="G Susmitha" userId="47d603034d7a761e" providerId="LiveId" clId="{3B701E4E-CE24-401D-9C40-2A889C440C7C}" dt="2025-04-15T04:20:33.105" v="211" actId="1076"/>
        <pc:sldMkLst>
          <pc:docMk/>
          <pc:sldMk cId="3591764578" sldId="276"/>
        </pc:sldMkLst>
        <pc:spChg chg="add mod">
          <ac:chgData name="G Susmitha" userId="47d603034d7a761e" providerId="LiveId" clId="{3B701E4E-CE24-401D-9C40-2A889C440C7C}" dt="2025-04-15T04:20:33.105" v="211" actId="1076"/>
          <ac:spMkLst>
            <pc:docMk/>
            <pc:sldMk cId="3591764578" sldId="276"/>
            <ac:spMk id="3" creationId="{F28D6DB1-E765-3D17-322E-BE5B092540DC}"/>
          </ac:spMkLst>
        </pc:spChg>
        <pc:picChg chg="mod">
          <ac:chgData name="G Susmitha" userId="47d603034d7a761e" providerId="LiveId" clId="{3B701E4E-CE24-401D-9C40-2A889C440C7C}" dt="2025-04-15T04:20:08.479" v="151" actId="14100"/>
          <ac:picMkLst>
            <pc:docMk/>
            <pc:sldMk cId="3591764578" sldId="276"/>
            <ac:picMk id="4" creationId="{0A7AB84F-AFAE-4A42-93CF-816218A9A67F}"/>
          </ac:picMkLst>
        </pc:picChg>
      </pc:sldChg>
      <pc:sldChg chg="addSp modSp mod">
        <pc:chgData name="G Susmitha" userId="47d603034d7a761e" providerId="LiveId" clId="{3B701E4E-CE24-401D-9C40-2A889C440C7C}" dt="2025-04-15T06:04:51.208" v="641" actId="20577"/>
        <pc:sldMkLst>
          <pc:docMk/>
          <pc:sldMk cId="2440155757" sldId="277"/>
        </pc:sldMkLst>
        <pc:spChg chg="mod">
          <ac:chgData name="G Susmitha" userId="47d603034d7a761e" providerId="LiveId" clId="{3B701E4E-CE24-401D-9C40-2A889C440C7C}" dt="2025-04-15T06:04:51.208" v="641" actId="20577"/>
          <ac:spMkLst>
            <pc:docMk/>
            <pc:sldMk cId="2440155757" sldId="277"/>
            <ac:spMk id="2" creationId="{343B4C99-4A45-46A9-B0E7-237A36054FEA}"/>
          </ac:spMkLst>
        </pc:spChg>
        <pc:spChg chg="add mod">
          <ac:chgData name="G Susmitha" userId="47d603034d7a761e" providerId="LiveId" clId="{3B701E4E-CE24-401D-9C40-2A889C440C7C}" dt="2025-04-15T04:18:49.263" v="107" actId="1076"/>
          <ac:spMkLst>
            <pc:docMk/>
            <pc:sldMk cId="2440155757" sldId="277"/>
            <ac:spMk id="4" creationId="{225AB28B-E927-D999-A0A5-0F9495649DB4}"/>
          </ac:spMkLst>
        </pc:spChg>
      </pc:sldChg>
      <pc:sldChg chg="addSp modSp mod">
        <pc:chgData name="G Susmitha" userId="47d603034d7a761e" providerId="LiveId" clId="{3B701E4E-CE24-401D-9C40-2A889C440C7C}" dt="2025-04-15T04:20:59.643" v="268" actId="1076"/>
        <pc:sldMkLst>
          <pc:docMk/>
          <pc:sldMk cId="3848687684" sldId="278"/>
        </pc:sldMkLst>
        <pc:spChg chg="add mod">
          <ac:chgData name="G Susmitha" userId="47d603034d7a761e" providerId="LiveId" clId="{3B701E4E-CE24-401D-9C40-2A889C440C7C}" dt="2025-04-15T04:20:59.643" v="268" actId="1076"/>
          <ac:spMkLst>
            <pc:docMk/>
            <pc:sldMk cId="3848687684" sldId="278"/>
            <ac:spMk id="3" creationId="{75470745-3115-22F7-2A22-341777D0270C}"/>
          </ac:spMkLst>
        </pc:spChg>
      </pc:sldChg>
      <pc:sldChg chg="addSp modSp mod">
        <pc:chgData name="G Susmitha" userId="47d603034d7a761e" providerId="LiveId" clId="{3B701E4E-CE24-401D-9C40-2A889C440C7C}" dt="2025-04-15T04:27:14.317" v="569" actId="20577"/>
        <pc:sldMkLst>
          <pc:docMk/>
          <pc:sldMk cId="1547297539" sldId="279"/>
        </pc:sldMkLst>
        <pc:spChg chg="add mod">
          <ac:chgData name="G Susmitha" userId="47d603034d7a761e" providerId="LiveId" clId="{3B701E4E-CE24-401D-9C40-2A889C440C7C}" dt="2025-04-15T04:27:14.317" v="569" actId="20577"/>
          <ac:spMkLst>
            <pc:docMk/>
            <pc:sldMk cId="1547297539" sldId="279"/>
            <ac:spMk id="4" creationId="{5D5801D9-7981-AF72-CEF8-D1B388D0E517}"/>
          </ac:spMkLst>
        </pc:spChg>
        <pc:picChg chg="mod">
          <ac:chgData name="G Susmitha" userId="47d603034d7a761e" providerId="LiveId" clId="{3B701E4E-CE24-401D-9C40-2A889C440C7C}" dt="2025-04-15T04:23:38.365" v="423" actId="1076"/>
          <ac:picMkLst>
            <pc:docMk/>
            <pc:sldMk cId="1547297539" sldId="279"/>
            <ac:picMk id="5" creationId="{E1AA7845-A28C-494C-B2F7-0CB591536CDF}"/>
          </ac:picMkLst>
        </pc:picChg>
      </pc:sldChg>
      <pc:sldChg chg="modSp mod">
        <pc:chgData name="G Susmitha" userId="47d603034d7a761e" providerId="LiveId" clId="{3B701E4E-CE24-401D-9C40-2A889C440C7C}" dt="2025-04-15T04:36:27.730" v="626" actId="12"/>
        <pc:sldMkLst>
          <pc:docMk/>
          <pc:sldMk cId="2474656863" sldId="280"/>
        </pc:sldMkLst>
        <pc:spChg chg="mod">
          <ac:chgData name="G Susmitha" userId="47d603034d7a761e" providerId="LiveId" clId="{3B701E4E-CE24-401D-9C40-2A889C440C7C}" dt="2025-04-15T04:28:35.988" v="581" actId="1076"/>
          <ac:spMkLst>
            <pc:docMk/>
            <pc:sldMk cId="2474656863" sldId="280"/>
            <ac:spMk id="3" creationId="{24729F65-4E21-4CCE-AD90-785E9C09728A}"/>
          </ac:spMkLst>
        </pc:spChg>
        <pc:spChg chg="mod">
          <ac:chgData name="G Susmitha" userId="47d603034d7a761e" providerId="LiveId" clId="{3B701E4E-CE24-401D-9C40-2A889C440C7C}" dt="2025-04-15T04:36:27.730" v="626" actId="12"/>
          <ac:spMkLst>
            <pc:docMk/>
            <pc:sldMk cId="2474656863" sldId="280"/>
            <ac:spMk id="5" creationId="{630B5B02-2899-47E6-A7C1-08EC4784FA1F}"/>
          </ac:spMkLst>
        </pc:spChg>
      </pc:sldChg>
      <pc:sldChg chg="addSp modSp mod">
        <pc:chgData name="G Susmitha" userId="47d603034d7a761e" providerId="LiveId" clId="{3B701E4E-CE24-401D-9C40-2A889C440C7C}" dt="2025-04-15T04:27:39.812" v="580" actId="1076"/>
        <pc:sldMkLst>
          <pc:docMk/>
          <pc:sldMk cId="1188513282" sldId="281"/>
        </pc:sldMkLst>
        <pc:spChg chg="add mod">
          <ac:chgData name="G Susmitha" userId="47d603034d7a761e" providerId="LiveId" clId="{3B701E4E-CE24-401D-9C40-2A889C440C7C}" dt="2025-04-15T04:27:39.812" v="580" actId="1076"/>
          <ac:spMkLst>
            <pc:docMk/>
            <pc:sldMk cId="1188513282" sldId="281"/>
            <ac:spMk id="2" creationId="{99E6D8A9-4FAE-0215-26E7-86CF80901431}"/>
          </ac:spMkLst>
        </pc:spChg>
        <pc:picChg chg="mod">
          <ac:chgData name="G Susmitha" userId="47d603034d7a761e" providerId="LiveId" clId="{3B701E4E-CE24-401D-9C40-2A889C440C7C}" dt="2025-04-15T04:27:35.060" v="579" actId="14100"/>
          <ac:picMkLst>
            <pc:docMk/>
            <pc:sldMk cId="1188513282" sldId="281"/>
            <ac:picMk id="3" creationId="{2A3DB945-1870-4ABA-974F-0B1A8A3AE93A}"/>
          </ac:picMkLst>
        </pc:picChg>
      </pc:sldChg>
      <pc:sldChg chg="addSp delSp modSp mod">
        <pc:chgData name="G Susmitha" userId="47d603034d7a761e" providerId="LiveId" clId="{3B701E4E-CE24-401D-9C40-2A889C440C7C}" dt="2025-04-15T04:22:50.312" v="384" actId="20577"/>
        <pc:sldMkLst>
          <pc:docMk/>
          <pc:sldMk cId="2867237291" sldId="284"/>
        </pc:sldMkLst>
        <pc:spChg chg="add mod">
          <ac:chgData name="G Susmitha" userId="47d603034d7a761e" providerId="LiveId" clId="{3B701E4E-CE24-401D-9C40-2A889C440C7C}" dt="2025-04-15T04:22:50.312" v="384" actId="20577"/>
          <ac:spMkLst>
            <pc:docMk/>
            <pc:sldMk cId="2867237291" sldId="284"/>
            <ac:spMk id="6" creationId="{366D3B6E-DC78-EDDA-D909-20F8F29422FA}"/>
          </ac:spMkLst>
        </pc:spChg>
        <pc:picChg chg="add mod">
          <ac:chgData name="G Susmitha" userId="47d603034d7a761e" providerId="LiveId" clId="{3B701E4E-CE24-401D-9C40-2A889C440C7C}" dt="2025-04-15T04:22:27.771" v="379" actId="14100"/>
          <ac:picMkLst>
            <pc:docMk/>
            <pc:sldMk cId="2867237291" sldId="284"/>
            <ac:picMk id="3" creationId="{D2553B6B-A290-FC2D-A08D-0CAF57CF0A12}"/>
          </ac:picMkLst>
        </pc:picChg>
        <pc:picChg chg="del">
          <ac:chgData name="G Susmitha" userId="47d603034d7a761e" providerId="LiveId" clId="{3B701E4E-CE24-401D-9C40-2A889C440C7C}" dt="2025-04-15T04:14:18.259" v="0" actId="478"/>
          <ac:picMkLst>
            <pc:docMk/>
            <pc:sldMk cId="2867237291" sldId="284"/>
            <ac:picMk id="4" creationId="{7888D2B4-723C-4A1E-9EDB-2B62DD27F757}"/>
          </ac:picMkLst>
        </pc:picChg>
      </pc:sldChg>
      <pc:sldChg chg="addSp modSp mod">
        <pc:chgData name="G Susmitha" userId="47d603034d7a761e" providerId="LiveId" clId="{3B701E4E-CE24-401D-9C40-2A889C440C7C}" dt="2025-04-15T04:22:43.914" v="382" actId="20577"/>
        <pc:sldMkLst>
          <pc:docMk/>
          <pc:sldMk cId="2590328011" sldId="285"/>
        </pc:sldMkLst>
        <pc:spChg chg="add mod">
          <ac:chgData name="G Susmitha" userId="47d603034d7a761e" providerId="LiveId" clId="{3B701E4E-CE24-401D-9C40-2A889C440C7C}" dt="2025-04-15T04:22:43.914" v="382" actId="20577"/>
          <ac:spMkLst>
            <pc:docMk/>
            <pc:sldMk cId="2590328011" sldId="285"/>
            <ac:spMk id="2" creationId="{E842520B-0CA5-8BCA-2C41-98FD9548B965}"/>
          </ac:spMkLst>
        </pc:spChg>
        <pc:picChg chg="mod">
          <ac:chgData name="G Susmitha" userId="47d603034d7a761e" providerId="LiveId" clId="{3B701E4E-CE24-401D-9C40-2A889C440C7C}" dt="2025-04-15T04:22:01.340" v="327" actId="1076"/>
          <ac:picMkLst>
            <pc:docMk/>
            <pc:sldMk cId="2590328011" sldId="285"/>
            <ac:picMk id="4" creationId="{F1CA680A-3960-439E-9D9A-0CE1387E354F}"/>
          </ac:picMkLst>
        </pc:picChg>
      </pc:sldChg>
      <pc:sldChg chg="addSp modSp mod">
        <pc:chgData name="G Susmitha" userId="47d603034d7a761e" providerId="LiveId" clId="{3B701E4E-CE24-401D-9C40-2A889C440C7C}" dt="2025-04-15T04:27:19.666" v="572" actId="20577"/>
        <pc:sldMkLst>
          <pc:docMk/>
          <pc:sldMk cId="1610592638" sldId="286"/>
        </pc:sldMkLst>
        <pc:spChg chg="add mod">
          <ac:chgData name="G Susmitha" userId="47d603034d7a761e" providerId="LiveId" clId="{3B701E4E-CE24-401D-9C40-2A889C440C7C}" dt="2025-04-15T04:27:19.666" v="572" actId="20577"/>
          <ac:spMkLst>
            <pc:docMk/>
            <pc:sldMk cId="1610592638" sldId="286"/>
            <ac:spMk id="3" creationId="{2A01B828-3A1A-3764-E214-6176A3775129}"/>
          </ac:spMkLst>
        </pc:spChg>
        <pc:picChg chg="mod">
          <ac:chgData name="G Susmitha" userId="47d603034d7a761e" providerId="LiveId" clId="{3B701E4E-CE24-401D-9C40-2A889C440C7C}" dt="2025-04-15T04:26:04.192" v="504" actId="14100"/>
          <ac:picMkLst>
            <pc:docMk/>
            <pc:sldMk cId="1610592638" sldId="286"/>
            <ac:picMk id="2" creationId="{496C3656-C86C-154F-BA72-DFAD4774AE42}"/>
          </ac:picMkLst>
        </pc:picChg>
      </pc:sldChg>
      <pc:sldChg chg="addSp modSp mod">
        <pc:chgData name="G Susmitha" userId="47d603034d7a761e" providerId="LiveId" clId="{3B701E4E-CE24-401D-9C40-2A889C440C7C}" dt="2025-04-15T04:27:23.856" v="575" actId="20577"/>
        <pc:sldMkLst>
          <pc:docMk/>
          <pc:sldMk cId="2871678910" sldId="287"/>
        </pc:sldMkLst>
        <pc:spChg chg="add mod">
          <ac:chgData name="G Susmitha" userId="47d603034d7a761e" providerId="LiveId" clId="{3B701E4E-CE24-401D-9C40-2A889C440C7C}" dt="2025-04-15T04:27:23.856" v="575" actId="20577"/>
          <ac:spMkLst>
            <pc:docMk/>
            <pc:sldMk cId="2871678910" sldId="287"/>
            <ac:spMk id="3" creationId="{87E6DC25-11F6-601F-AD9C-67051160C517}"/>
          </ac:spMkLst>
        </pc:spChg>
        <pc:picChg chg="mod">
          <ac:chgData name="G Susmitha" userId="47d603034d7a761e" providerId="LiveId" clId="{3B701E4E-CE24-401D-9C40-2A889C440C7C}" dt="2025-04-15T04:26:09.202" v="505" actId="1076"/>
          <ac:picMkLst>
            <pc:docMk/>
            <pc:sldMk cId="2871678910" sldId="287"/>
            <ac:picMk id="2" creationId="{00BA4218-4E47-07A5-DA98-E31E9D358219}"/>
          </ac:picMkLst>
        </pc:picChg>
      </pc:sldChg>
      <pc:sldChg chg="addSp modSp new mod">
        <pc:chgData name="G Susmitha" userId="47d603034d7a761e" providerId="LiveId" clId="{3B701E4E-CE24-401D-9C40-2A889C440C7C}" dt="2025-04-15T04:33:01.962" v="619" actId="207"/>
        <pc:sldMkLst>
          <pc:docMk/>
          <pc:sldMk cId="3808643731" sldId="288"/>
        </pc:sldMkLst>
        <pc:spChg chg="add mod">
          <ac:chgData name="G Susmitha" userId="47d603034d7a761e" providerId="LiveId" clId="{3B701E4E-CE24-401D-9C40-2A889C440C7C}" dt="2025-04-15T04:33:01.962" v="619" actId="207"/>
          <ac:spMkLst>
            <pc:docMk/>
            <pc:sldMk cId="3808643731" sldId="288"/>
            <ac:spMk id="3" creationId="{95F2AC5C-5A23-5EFC-0E55-AED4456C0AA6}"/>
          </ac:spMkLst>
        </pc:spChg>
      </pc:sldChg>
      <pc:sldChg chg="new del">
        <pc:chgData name="G Susmitha" userId="47d603034d7a761e" providerId="LiveId" clId="{3B701E4E-CE24-401D-9C40-2A889C440C7C}" dt="2025-04-15T04:31:59.336" v="612" actId="2696"/>
        <pc:sldMkLst>
          <pc:docMk/>
          <pc:sldMk cId="140218083" sldId="28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1971D-711B-4939-A8CA-F608DCC8FF3B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37A7-AD29-45D4-953F-324918591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4548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1971D-711B-4939-A8CA-F608DCC8FF3B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C90B37A7-AD29-45D4-953F-324918591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6567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1971D-711B-4939-A8CA-F608DCC8FF3B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37A7-AD29-45D4-953F-324918591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980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1971D-711B-4939-A8CA-F608DCC8FF3B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37A7-AD29-45D4-953F-324918591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2722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1971D-711B-4939-A8CA-F608DCC8FF3B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37A7-AD29-45D4-953F-324918591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8397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1971D-711B-4939-A8CA-F608DCC8FF3B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37A7-AD29-45D4-953F-324918591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69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1971D-711B-4939-A8CA-F608DCC8FF3B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37A7-AD29-45D4-953F-324918591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4325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1971D-711B-4939-A8CA-F608DCC8FF3B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37A7-AD29-45D4-953F-324918591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88853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1971D-711B-4939-A8CA-F608DCC8FF3B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37A7-AD29-45D4-953F-324918591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491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1971D-711B-4939-A8CA-F608DCC8FF3B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37A7-AD29-45D4-953F-324918591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434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1971D-711B-4939-A8CA-F608DCC8FF3B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37A7-AD29-45D4-953F-324918591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16153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1971D-711B-4939-A8CA-F608DCC8FF3B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37A7-AD29-45D4-953F-324918591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0988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1971D-711B-4939-A8CA-F608DCC8FF3B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37A7-AD29-45D4-953F-324918591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46768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1971D-711B-4939-A8CA-F608DCC8FF3B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37A7-AD29-45D4-953F-324918591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66357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1971D-711B-4939-A8CA-F608DCC8FF3B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37A7-AD29-45D4-953F-324918591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1366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1971D-711B-4939-A8CA-F608DCC8FF3B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37A7-AD29-45D4-953F-324918591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30496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1971D-711B-4939-A8CA-F608DCC8FF3B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0B37A7-AD29-45D4-953F-324918591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3297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A71971D-711B-4939-A8CA-F608DCC8FF3B}" type="datetimeFigureOut">
              <a:rPr lang="en-IN" smtClean="0"/>
              <a:t>15-04-2025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90B37A7-AD29-45D4-953F-32491859100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1846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847" r:id="rId14"/>
    <p:sldLayoutId id="2147483848" r:id="rId15"/>
    <p:sldLayoutId id="2147483849" r:id="rId16"/>
    <p:sldLayoutId id="214748385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 2">
            <a:extLst>
              <a:ext uri="{FF2B5EF4-FFF2-40B4-BE49-F238E27FC236}">
                <a16:creationId xmlns:a16="http://schemas.microsoft.com/office/drawing/2014/main" id="{D4C3A2B0-C365-4B5E-B365-04C7A52E1E53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84632" y="3187382"/>
            <a:ext cx="973455" cy="9734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D2FCA1E-42E9-49B3-89D5-93378467062C}"/>
              </a:ext>
            </a:extLst>
          </p:cNvPr>
          <p:cNvSpPr txBox="1"/>
          <p:nvPr/>
        </p:nvSpPr>
        <p:spPr>
          <a:xfrm>
            <a:off x="1645919" y="290950"/>
            <a:ext cx="1026033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MODEL FOR DETECTION OF LUNG CANCER USING CT SCANS WITH HOVG-NET</a:t>
            </a:r>
            <a:r>
              <a:rPr lang="en-US" sz="2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2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802182-7B13-450F-BA1B-D9888659A09B}"/>
              </a:ext>
            </a:extLst>
          </p:cNvPr>
          <p:cNvSpPr txBox="1"/>
          <p:nvPr/>
        </p:nvSpPr>
        <p:spPr>
          <a:xfrm>
            <a:off x="3835716" y="1059736"/>
            <a:ext cx="588073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BATCH -16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BODDU MEGHANA                  21KA1A0537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YANAMALA NEELIMA           21KA1A0541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GOGULA SUSMITHA               21KA1A0548</a:t>
            </a:r>
          </a:p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SAPURAM DEEPTHI                21KA1A0536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144AC2-1D5A-4821-9AEF-17E648C3F227}"/>
              </a:ext>
            </a:extLst>
          </p:cNvPr>
          <p:cNvSpPr txBox="1"/>
          <p:nvPr/>
        </p:nvSpPr>
        <p:spPr>
          <a:xfrm>
            <a:off x="3383279" y="5318124"/>
            <a:ext cx="7376160" cy="12890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algn="ctr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JAWAHARLAL NEHRU TECHNOLOGICAL UNIVERSITY ANANTAPUR COLLEGE OF ENGINEERING KALIKIRI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A39A68-BE3A-463D-93AA-50349E5E444E}"/>
              </a:ext>
            </a:extLst>
          </p:cNvPr>
          <p:cNvSpPr txBox="1"/>
          <p:nvPr/>
        </p:nvSpPr>
        <p:spPr>
          <a:xfrm>
            <a:off x="4801075" y="4257158"/>
            <a:ext cx="45405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esteemed guidance of </a:t>
            </a:r>
          </a:p>
          <a:p>
            <a:pPr algn="ctr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Mrs. G. THAPASWINI, </a:t>
            </a:r>
            <a:r>
              <a:rPr lang="en-US" sz="12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Tech, (Ph. D.),</a:t>
            </a:r>
          </a:p>
          <a:p>
            <a:pPr algn="ctr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 (</a:t>
            </a:r>
            <a:r>
              <a:rPr lang="en-US" dirty="0" err="1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Adhoc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5694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A5BC87-1EA5-4E52-8445-45023013E4FE}"/>
              </a:ext>
            </a:extLst>
          </p:cNvPr>
          <p:cNvSpPr txBox="1"/>
          <p:nvPr/>
        </p:nvSpPr>
        <p:spPr>
          <a:xfrm>
            <a:off x="2783541" y="185300"/>
            <a:ext cx="685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  <a:endParaRPr lang="en-IN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2794A00-FBC6-48E4-8AA4-8B15273388D9}"/>
              </a:ext>
            </a:extLst>
          </p:cNvPr>
          <p:cNvSpPr txBox="1"/>
          <p:nvPr/>
        </p:nvSpPr>
        <p:spPr>
          <a:xfrm>
            <a:off x="2783541" y="646965"/>
            <a:ext cx="3843867" cy="5628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Description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32866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5152B12-D680-4666-AA89-F139F8D04DEF}"/>
              </a:ext>
            </a:extLst>
          </p:cNvPr>
          <p:cNvSpPr txBox="1"/>
          <p:nvPr/>
        </p:nvSpPr>
        <p:spPr>
          <a:xfrm>
            <a:off x="2459317" y="586231"/>
            <a:ext cx="8398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951D3A-0D2F-49C2-8780-3794DCE49A66}"/>
              </a:ext>
            </a:extLst>
          </p:cNvPr>
          <p:cNvSpPr txBox="1"/>
          <p:nvPr/>
        </p:nvSpPr>
        <p:spPr>
          <a:xfrm>
            <a:off x="2188383" y="1907491"/>
            <a:ext cx="8669868" cy="2777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Lung cancer is a leading cause of mortality worldwide.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detection is hindered by its asymptomatic onset.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CT scan evaluations are prone to errors and delays.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Advances in deep learning and computer vision enhance medical imaging.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HOVG-Net aims to bridge the gap in early detection and diagnosis.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5555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A046E1-0D7A-4F91-91DB-BE6224279C4D}"/>
              </a:ext>
            </a:extLst>
          </p:cNvPr>
          <p:cNvSpPr txBox="1"/>
          <p:nvPr/>
        </p:nvSpPr>
        <p:spPr>
          <a:xfrm>
            <a:off x="3335616" y="668369"/>
            <a:ext cx="7129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en-IN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5A977D-393F-478E-8A41-9A440B657EAB}"/>
              </a:ext>
            </a:extLst>
          </p:cNvPr>
          <p:cNvSpPr txBox="1"/>
          <p:nvPr/>
        </p:nvSpPr>
        <p:spPr>
          <a:xfrm>
            <a:off x="2218265" y="1763031"/>
            <a:ext cx="9364133" cy="3331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Introduces a hybrid model, HOVG-Net, for early lung cancer detection in CT scans.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Utilizes a combination of Circular Hough Transform and VGG-19 for feature detection.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preprocessing, segmentation, and advanced feature extraction.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quantitative analysis for severity categorization (Low, Medium, High, Critical).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diagnostic accuracy, aiding early intervention and treatment planning.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Demonstrates potential for future expansion into subtype classification of lung cancer.</a:t>
            </a:r>
          </a:p>
        </p:txBody>
      </p:sp>
    </p:spTree>
    <p:extLst>
      <p:ext uri="{BB962C8B-B14F-4D97-AF65-F5344CB8AC3E}">
        <p14:creationId xmlns:p14="http://schemas.microsoft.com/office/powerpoint/2010/main" val="3781366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770568-9D50-45BE-802B-8090D1921F85}"/>
              </a:ext>
            </a:extLst>
          </p:cNvPr>
          <p:cNvSpPr txBox="1"/>
          <p:nvPr/>
        </p:nvSpPr>
        <p:spPr>
          <a:xfrm>
            <a:off x="2452345" y="647452"/>
            <a:ext cx="8876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EXISTING SYSTEM</a:t>
            </a:r>
            <a:endParaRPr lang="en-IN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F00B26-7E62-42A5-A5E3-3B7C8A42B0CD}"/>
              </a:ext>
            </a:extLst>
          </p:cNvPr>
          <p:cNvSpPr txBox="1"/>
          <p:nvPr/>
        </p:nvSpPr>
        <p:spPr>
          <a:xfrm>
            <a:off x="2842558" y="1725474"/>
            <a:ext cx="8095628" cy="2777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evaluations are inconsistent and inefficient.</a:t>
            </a:r>
          </a:p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Single-model deep learning systems face computational challenges.</a:t>
            </a:r>
          </a:p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Boosting-CNN models are accurate but resource-heavy.</a:t>
            </a:r>
          </a:p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Ensemble models like 2D CNN are high-cost and impractical for large-scale use.</a:t>
            </a:r>
          </a:p>
          <a:p>
            <a:pPr marL="285750" indent="-285750">
              <a:lnSpc>
                <a:spcPct val="200000"/>
              </a:lnSpc>
              <a:buFont typeface="Courier New" panose="02070309020205020404" pitchFamily="49" charset="0"/>
              <a:buChar char="o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lack visualization features for clinician interpretability.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243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D0915C-37F5-4B37-9D3B-80FB4F15B15E}"/>
              </a:ext>
            </a:extLst>
          </p:cNvPr>
          <p:cNvSpPr txBox="1"/>
          <p:nvPr/>
        </p:nvSpPr>
        <p:spPr>
          <a:xfrm>
            <a:off x="3318683" y="854636"/>
            <a:ext cx="7129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8AC20C-F785-4FA7-B51E-6D3A678E92BF}"/>
              </a:ext>
            </a:extLst>
          </p:cNvPr>
          <p:cNvSpPr txBox="1"/>
          <p:nvPr/>
        </p:nvSpPr>
        <p:spPr>
          <a:xfrm>
            <a:off x="2562910" y="2368966"/>
            <a:ext cx="8314267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Lung cancer is often detected in advanced stages due to the limitations of traditional diagnostic methods. The need for a highly accurate, efficient, and interpretable detection system is critical. The challenge lies in combining advanced computational techniques to enhance detection sensitivity and specificity, enabling early diagnosis and improving patient outcomes.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95735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770568-9D50-45BE-802B-8090D1921F85}"/>
              </a:ext>
            </a:extLst>
          </p:cNvPr>
          <p:cNvSpPr txBox="1"/>
          <p:nvPr/>
        </p:nvSpPr>
        <p:spPr>
          <a:xfrm>
            <a:off x="1504078" y="833718"/>
            <a:ext cx="9183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PROPOSED SYSTEM</a:t>
            </a:r>
            <a:endParaRPr lang="en-IN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7C7706-0F90-40BA-8D26-A651D0501A81}"/>
              </a:ext>
            </a:extLst>
          </p:cNvPr>
          <p:cNvSpPr txBox="1"/>
          <p:nvPr/>
        </p:nvSpPr>
        <p:spPr>
          <a:xfrm>
            <a:off x="2760133" y="2040030"/>
            <a:ext cx="8382000" cy="2777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HOVG-Net integrates Circular Hough Transform with VGG-19 for feature detection.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Pre-processing includes resizing, noise reduction, and morphological refinement.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 uses active contours for precise region isolation.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Evaluates detected features to determine severity levels (Low to Critical).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ü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visual overlays for intuitive understanding of diagnostic results.</a:t>
            </a:r>
          </a:p>
        </p:txBody>
      </p:sp>
    </p:spTree>
    <p:extLst>
      <p:ext uri="{BB962C8B-B14F-4D97-AF65-F5344CB8AC3E}">
        <p14:creationId xmlns:p14="http://schemas.microsoft.com/office/powerpoint/2010/main" val="3946039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770568-9D50-45BE-802B-8090D1921F85}"/>
              </a:ext>
            </a:extLst>
          </p:cNvPr>
          <p:cNvSpPr txBox="1"/>
          <p:nvPr/>
        </p:nvSpPr>
        <p:spPr>
          <a:xfrm>
            <a:off x="1961278" y="782919"/>
            <a:ext cx="82694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SOFTWARE REQUIREMENTS</a:t>
            </a:r>
            <a:endParaRPr lang="en-IN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C8D89-36A8-43CD-B558-33A064DB4384}"/>
              </a:ext>
            </a:extLst>
          </p:cNvPr>
          <p:cNvSpPr txBox="1"/>
          <p:nvPr/>
        </p:nvSpPr>
        <p:spPr>
          <a:xfrm>
            <a:off x="2760133" y="2040030"/>
            <a:ext cx="7924800" cy="4439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 11.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3.13.3 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libraries: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TensorFlow 2.19.0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3.9.2.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IDE: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3.10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 Framework: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1.44.0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Deployment: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Pyngrok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7.2.3 for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ngrok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tunneling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Processing: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OpenCV 4.11.0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69658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770568-9D50-45BE-802B-8090D1921F85}"/>
              </a:ext>
            </a:extLst>
          </p:cNvPr>
          <p:cNvSpPr txBox="1"/>
          <p:nvPr/>
        </p:nvSpPr>
        <p:spPr>
          <a:xfrm>
            <a:off x="1343212" y="833717"/>
            <a:ext cx="9505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124847-C8DB-4E6C-B930-CD9B8AC201DF}"/>
              </a:ext>
            </a:extLst>
          </p:cNvPr>
          <p:cNvSpPr txBox="1"/>
          <p:nvPr/>
        </p:nvSpPr>
        <p:spPr>
          <a:xfrm>
            <a:off x="2997201" y="2240569"/>
            <a:ext cx="6841066" cy="2783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 Core i7 or equivalent for high-speed computation.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Minimum 16 GB, recommended 32 GB for larger datasets.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GPU: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NVIDIA GTX 1080 or higher for deep learning.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Storage: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 TB SSD for efficient data handling.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High-resolution monitor for clear CT scan analysis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1044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3B4C99-4A45-46A9-B0E7-237A36054FEA}"/>
              </a:ext>
            </a:extLst>
          </p:cNvPr>
          <p:cNvSpPr txBox="1"/>
          <p:nvPr/>
        </p:nvSpPr>
        <p:spPr>
          <a:xfrm>
            <a:off x="1504076" y="491340"/>
            <a:ext cx="9183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ARCHITECTURE </a:t>
            </a:r>
            <a:endParaRPr lang="en-IN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13B436-F120-4623-8CBE-5649DF46D41F}"/>
              </a:ext>
            </a:extLst>
          </p:cNvPr>
          <p:cNvPicPr/>
          <p:nvPr/>
        </p:nvPicPr>
        <p:blipFill>
          <a:blip r:embed="rId2" cstate="print"/>
          <a:srcRect r="11706"/>
          <a:stretch/>
        </p:blipFill>
        <p:spPr>
          <a:xfrm>
            <a:off x="2868707" y="1335741"/>
            <a:ext cx="6789512" cy="4820267"/>
          </a:xfrm>
          <a:prstGeom prst="rect">
            <a:avLst/>
          </a:prstGeom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5AB28B-E927-D999-A0A5-0F9495649DB4}"/>
              </a:ext>
            </a:extLst>
          </p:cNvPr>
          <p:cNvSpPr txBox="1"/>
          <p:nvPr/>
        </p:nvSpPr>
        <p:spPr>
          <a:xfrm>
            <a:off x="4234649" y="6285390"/>
            <a:ext cx="5024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1: Proposed Framework Block Diagram</a:t>
            </a:r>
          </a:p>
        </p:txBody>
      </p:sp>
    </p:spTree>
    <p:extLst>
      <p:ext uri="{BB962C8B-B14F-4D97-AF65-F5344CB8AC3E}">
        <p14:creationId xmlns:p14="http://schemas.microsoft.com/office/powerpoint/2010/main" val="24401557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3FBB17-F313-463E-B2F0-0DBDEB1DA073}"/>
              </a:ext>
            </a:extLst>
          </p:cNvPr>
          <p:cNvSpPr txBox="1"/>
          <p:nvPr/>
        </p:nvSpPr>
        <p:spPr>
          <a:xfrm>
            <a:off x="1554877" y="340932"/>
            <a:ext cx="91838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HYBRID MODEL ARCHITECTURE</a:t>
            </a:r>
            <a:endParaRPr lang="en-IN" sz="24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659BDB-E7AE-4673-8CDD-4CD16CD53DA2}"/>
              </a:ext>
            </a:extLst>
          </p:cNvPr>
          <p:cNvPicPr/>
          <p:nvPr/>
        </p:nvPicPr>
        <p:blipFill>
          <a:blip r:embed="rId2" cstate="print"/>
          <a:srcRect l="1404" t="19895" r="1754"/>
          <a:stretch/>
        </p:blipFill>
        <p:spPr>
          <a:xfrm>
            <a:off x="2640604" y="1580085"/>
            <a:ext cx="8556314" cy="4220080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31C634-27C6-C8FB-5964-1D9C244433F1}"/>
              </a:ext>
            </a:extLst>
          </p:cNvPr>
          <p:cNvSpPr txBox="1"/>
          <p:nvPr/>
        </p:nvSpPr>
        <p:spPr>
          <a:xfrm>
            <a:off x="5575178" y="6090082"/>
            <a:ext cx="30006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2: Proposed System</a:t>
            </a:r>
          </a:p>
        </p:txBody>
      </p:sp>
    </p:spTree>
    <p:extLst>
      <p:ext uri="{BB962C8B-B14F-4D97-AF65-F5344CB8AC3E}">
        <p14:creationId xmlns:p14="http://schemas.microsoft.com/office/powerpoint/2010/main" val="31422069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5A13AAC-632A-417D-A1D3-C4016B2D2D4B}"/>
              </a:ext>
            </a:extLst>
          </p:cNvPr>
          <p:cNvSpPr txBox="1"/>
          <p:nvPr/>
        </p:nvSpPr>
        <p:spPr>
          <a:xfrm>
            <a:off x="1343212" y="518217"/>
            <a:ext cx="9505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A7AB84F-AFAE-4A42-93CF-816218A9A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9624" y="1093695"/>
            <a:ext cx="3998955" cy="4968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28D6DB1-E765-3D17-322E-BE5B092540DC}"/>
              </a:ext>
            </a:extLst>
          </p:cNvPr>
          <p:cNvSpPr txBox="1"/>
          <p:nvPr/>
        </p:nvSpPr>
        <p:spPr>
          <a:xfrm>
            <a:off x="4636581" y="6258757"/>
            <a:ext cx="30450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3: Data Flow Diagram</a:t>
            </a:r>
          </a:p>
        </p:txBody>
      </p:sp>
    </p:spTree>
    <p:extLst>
      <p:ext uri="{BB962C8B-B14F-4D97-AF65-F5344CB8AC3E}">
        <p14:creationId xmlns:p14="http://schemas.microsoft.com/office/powerpoint/2010/main" val="35917645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2316082-4D0D-443F-9B90-D6EFDFB233AB}"/>
              </a:ext>
            </a:extLst>
          </p:cNvPr>
          <p:cNvSpPr txBox="1"/>
          <p:nvPr/>
        </p:nvSpPr>
        <p:spPr>
          <a:xfrm>
            <a:off x="1271494" y="426320"/>
            <a:ext cx="9505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F1AE18A-2147-4065-99AB-9A60CCF782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0" y="1178560"/>
            <a:ext cx="6858000" cy="49479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470745-3115-22F7-2A22-341777D0270C}"/>
              </a:ext>
            </a:extLst>
          </p:cNvPr>
          <p:cNvSpPr txBox="1"/>
          <p:nvPr/>
        </p:nvSpPr>
        <p:spPr>
          <a:xfrm>
            <a:off x="4617171" y="6247014"/>
            <a:ext cx="28142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4: Use Case Diagram</a:t>
            </a:r>
          </a:p>
        </p:txBody>
      </p:sp>
    </p:spTree>
    <p:extLst>
      <p:ext uri="{BB962C8B-B14F-4D97-AF65-F5344CB8AC3E}">
        <p14:creationId xmlns:p14="http://schemas.microsoft.com/office/powerpoint/2010/main" val="3848687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E3D5743-F278-4ABF-843D-08B85F29F4D7}"/>
              </a:ext>
            </a:extLst>
          </p:cNvPr>
          <p:cNvSpPr txBox="1"/>
          <p:nvPr/>
        </p:nvSpPr>
        <p:spPr>
          <a:xfrm>
            <a:off x="1343212" y="445998"/>
            <a:ext cx="9505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F0AB0-5D49-F111-B2D8-08D298801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1360" y="1432560"/>
            <a:ext cx="8952585" cy="4938802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4E16DE8-7D57-420E-86F6-224C906C1B31}"/>
              </a:ext>
            </a:extLst>
          </p:cNvPr>
          <p:cNvCxnSpPr>
            <a:cxnSpLocks/>
          </p:cNvCxnSpPr>
          <p:nvPr/>
        </p:nvCxnSpPr>
        <p:spPr>
          <a:xfrm>
            <a:off x="3911600" y="2545976"/>
            <a:ext cx="1843144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9FA2CB6-72BC-4DAD-873C-84FBD98143A7}"/>
              </a:ext>
            </a:extLst>
          </p:cNvPr>
          <p:cNvCxnSpPr>
            <a:cxnSpLocks/>
          </p:cNvCxnSpPr>
          <p:nvPr/>
        </p:nvCxnSpPr>
        <p:spPr>
          <a:xfrm>
            <a:off x="7189695" y="2545976"/>
            <a:ext cx="1855693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E9AB504-0C26-46E4-8C94-486F4C0670B1}"/>
              </a:ext>
            </a:extLst>
          </p:cNvPr>
          <p:cNvCxnSpPr>
            <a:cxnSpLocks/>
          </p:cNvCxnSpPr>
          <p:nvPr/>
        </p:nvCxnSpPr>
        <p:spPr>
          <a:xfrm>
            <a:off x="9733280" y="3190240"/>
            <a:ext cx="0" cy="127508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F40CAD7-1D7A-41FC-806E-B7390A7A1CA5}"/>
              </a:ext>
            </a:extLst>
          </p:cNvPr>
          <p:cNvCxnSpPr/>
          <p:nvPr/>
        </p:nvCxnSpPr>
        <p:spPr>
          <a:xfrm>
            <a:off x="9621520" y="4465320"/>
            <a:ext cx="2387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BC6AFE2-9D25-408F-95A5-4571861251C8}"/>
              </a:ext>
            </a:extLst>
          </p:cNvPr>
          <p:cNvCxnSpPr/>
          <p:nvPr/>
        </p:nvCxnSpPr>
        <p:spPr>
          <a:xfrm>
            <a:off x="8976360" y="4983480"/>
            <a:ext cx="0" cy="2895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DB7DB8C-4E0D-4885-A3BF-1633B7890405}"/>
              </a:ext>
            </a:extLst>
          </p:cNvPr>
          <p:cNvCxnSpPr/>
          <p:nvPr/>
        </p:nvCxnSpPr>
        <p:spPr>
          <a:xfrm>
            <a:off x="7194775" y="5001260"/>
            <a:ext cx="0" cy="2895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D10FB80-151F-4904-BE72-3379D19E235E}"/>
              </a:ext>
            </a:extLst>
          </p:cNvPr>
          <p:cNvCxnSpPr/>
          <p:nvPr/>
        </p:nvCxnSpPr>
        <p:spPr>
          <a:xfrm>
            <a:off x="5754744" y="5001260"/>
            <a:ext cx="0" cy="38354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218C41D-763B-45F8-81F5-8F9AE7FCF4C6}"/>
              </a:ext>
            </a:extLst>
          </p:cNvPr>
          <p:cNvCxnSpPr/>
          <p:nvPr/>
        </p:nvCxnSpPr>
        <p:spPr>
          <a:xfrm flipH="1">
            <a:off x="7189695" y="5290820"/>
            <a:ext cx="1786665" cy="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9B9DDCE-41A2-4544-AC36-196A664AE252}"/>
              </a:ext>
            </a:extLst>
          </p:cNvPr>
          <p:cNvCxnSpPr/>
          <p:nvPr/>
        </p:nvCxnSpPr>
        <p:spPr>
          <a:xfrm>
            <a:off x="9128760" y="5135880"/>
            <a:ext cx="0" cy="28956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1C50793-1940-4D98-9C46-7EA6697B23AB}"/>
              </a:ext>
            </a:extLst>
          </p:cNvPr>
          <p:cNvCxnSpPr>
            <a:cxnSpLocks/>
          </p:cNvCxnSpPr>
          <p:nvPr/>
        </p:nvCxnSpPr>
        <p:spPr>
          <a:xfrm flipH="1" flipV="1">
            <a:off x="3939092" y="5290820"/>
            <a:ext cx="1819240" cy="1016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66CB14FA-1B18-4617-BD40-AF5ECCEF0423}"/>
              </a:ext>
            </a:extLst>
          </p:cNvPr>
          <p:cNvCxnSpPr/>
          <p:nvPr/>
        </p:nvCxnSpPr>
        <p:spPr>
          <a:xfrm flipV="1">
            <a:off x="3154680" y="3116580"/>
            <a:ext cx="0" cy="1348740"/>
          </a:xfrm>
          <a:prstGeom prst="straightConnector1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BC2BCDC1-C445-4CBF-89E2-496989ADA587}"/>
              </a:ext>
            </a:extLst>
          </p:cNvPr>
          <p:cNvCxnSpPr/>
          <p:nvPr/>
        </p:nvCxnSpPr>
        <p:spPr>
          <a:xfrm flipV="1">
            <a:off x="3935506" y="5273040"/>
            <a:ext cx="0" cy="76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4381A32D-4DA8-4E2F-8AD9-5EE395194A59}"/>
              </a:ext>
            </a:extLst>
          </p:cNvPr>
          <p:cNvCxnSpPr/>
          <p:nvPr/>
        </p:nvCxnSpPr>
        <p:spPr>
          <a:xfrm flipV="1">
            <a:off x="3935506" y="5229860"/>
            <a:ext cx="72614" cy="508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375D27A-1B50-44F9-A9B4-0F4DBB6D9C8F}"/>
              </a:ext>
            </a:extLst>
          </p:cNvPr>
          <p:cNvCxnSpPr>
            <a:cxnSpLocks/>
          </p:cNvCxnSpPr>
          <p:nvPr/>
        </p:nvCxnSpPr>
        <p:spPr>
          <a:xfrm>
            <a:off x="3935506" y="5290820"/>
            <a:ext cx="72614" cy="584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A37D7D2B-3007-4640-97B5-224A97C14EF5}"/>
              </a:ext>
            </a:extLst>
          </p:cNvPr>
          <p:cNvCxnSpPr/>
          <p:nvPr/>
        </p:nvCxnSpPr>
        <p:spPr>
          <a:xfrm flipH="1">
            <a:off x="3098800" y="3116580"/>
            <a:ext cx="55880" cy="939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AFE8C15-02CD-404D-B612-D21A12F78EE2}"/>
              </a:ext>
            </a:extLst>
          </p:cNvPr>
          <p:cNvCxnSpPr>
            <a:cxnSpLocks/>
          </p:cNvCxnSpPr>
          <p:nvPr/>
        </p:nvCxnSpPr>
        <p:spPr>
          <a:xfrm>
            <a:off x="3154680" y="3116580"/>
            <a:ext cx="55880" cy="939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110A584-A631-7D6F-05FE-F7835D1F4177}"/>
              </a:ext>
            </a:extLst>
          </p:cNvPr>
          <p:cNvSpPr txBox="1"/>
          <p:nvPr/>
        </p:nvSpPr>
        <p:spPr>
          <a:xfrm>
            <a:off x="5282215" y="6381522"/>
            <a:ext cx="3098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5: Class Diagram</a:t>
            </a:r>
          </a:p>
        </p:txBody>
      </p:sp>
    </p:spTree>
    <p:extLst>
      <p:ext uri="{BB962C8B-B14F-4D97-AF65-F5344CB8AC3E}">
        <p14:creationId xmlns:p14="http://schemas.microsoft.com/office/powerpoint/2010/main" val="1597521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A7C9903-EE63-B7C2-B9BD-88900B902726}"/>
              </a:ext>
            </a:extLst>
          </p:cNvPr>
          <p:cNvSpPr txBox="1"/>
          <p:nvPr/>
        </p:nvSpPr>
        <p:spPr>
          <a:xfrm>
            <a:off x="1915065" y="626028"/>
            <a:ext cx="803981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srgbClr val="30ACEC">
                    <a:lumMod val="75000"/>
                  </a:srgb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  <a:endParaRPr kumimoji="0" lang="en-IN" sz="2400" b="1" i="0" u="none" strike="noStrike" kern="1200" cap="none" spc="0" normalizeH="0" baseline="0" noProof="0" dirty="0">
              <a:ln>
                <a:noFill/>
              </a:ln>
              <a:solidFill>
                <a:srgbClr val="30ACEC">
                  <a:lumMod val="75000"/>
                </a:srgbClr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CA680A-3960-439E-9D9A-0CE1387E354F}"/>
              </a:ext>
            </a:extLst>
          </p:cNvPr>
          <p:cNvPicPr/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546"/>
          <a:stretch/>
        </p:blipFill>
        <p:spPr bwMode="auto">
          <a:xfrm>
            <a:off x="2706950" y="1364692"/>
            <a:ext cx="8039817" cy="448437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842520B-0CA5-8BCA-2C41-98FD9548B965}"/>
              </a:ext>
            </a:extLst>
          </p:cNvPr>
          <p:cNvSpPr txBox="1"/>
          <p:nvPr/>
        </p:nvSpPr>
        <p:spPr>
          <a:xfrm>
            <a:off x="4935986" y="6047306"/>
            <a:ext cx="30539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6: Sequence Diagram</a:t>
            </a:r>
          </a:p>
        </p:txBody>
      </p:sp>
    </p:spTree>
    <p:extLst>
      <p:ext uri="{BB962C8B-B14F-4D97-AF65-F5344CB8AC3E}">
        <p14:creationId xmlns:p14="http://schemas.microsoft.com/office/powerpoint/2010/main" val="25903280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9270CA-FD50-4BA2-837B-FC838CB05D41}"/>
              </a:ext>
            </a:extLst>
          </p:cNvPr>
          <p:cNvSpPr txBox="1"/>
          <p:nvPr/>
        </p:nvSpPr>
        <p:spPr>
          <a:xfrm>
            <a:off x="1343212" y="340668"/>
            <a:ext cx="9505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GRAPHICAL REPRESENTATION OF DATA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553B6B-A290-FC2D-A08D-0CAF57CF0A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2" y="916613"/>
            <a:ext cx="7744295" cy="505188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6D3B6E-DC78-EDDA-D909-20F8F29422FA}"/>
              </a:ext>
            </a:extLst>
          </p:cNvPr>
          <p:cNvSpPr txBox="1"/>
          <p:nvPr/>
        </p:nvSpPr>
        <p:spPr>
          <a:xfrm>
            <a:off x="4234649" y="6285390"/>
            <a:ext cx="50247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7: Proposed Framework Block Diagram</a:t>
            </a:r>
          </a:p>
        </p:txBody>
      </p:sp>
    </p:spTree>
    <p:extLst>
      <p:ext uri="{BB962C8B-B14F-4D97-AF65-F5344CB8AC3E}">
        <p14:creationId xmlns:p14="http://schemas.microsoft.com/office/powerpoint/2010/main" val="2867237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DEA5D2-0F1C-4819-AF2F-CC6E97671E33}"/>
              </a:ext>
            </a:extLst>
          </p:cNvPr>
          <p:cNvSpPr txBox="1"/>
          <p:nvPr/>
        </p:nvSpPr>
        <p:spPr>
          <a:xfrm>
            <a:off x="1343212" y="833717"/>
            <a:ext cx="9505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87E33E-85EE-40EF-AB50-05ED32EC46F8}"/>
              </a:ext>
            </a:extLst>
          </p:cNvPr>
          <p:cNvSpPr txBox="1"/>
          <p:nvPr/>
        </p:nvSpPr>
        <p:spPr>
          <a:xfrm>
            <a:off x="2887133" y="2036631"/>
            <a:ext cx="6417734" cy="27779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Acquisition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Preprocessing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Analysis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 and Severity Analysis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Visualization and Reporting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478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002A060-D2E5-4407-9944-E42EE34DA3BF}"/>
              </a:ext>
            </a:extLst>
          </p:cNvPr>
          <p:cNvSpPr txBox="1"/>
          <p:nvPr/>
        </p:nvSpPr>
        <p:spPr>
          <a:xfrm>
            <a:off x="1343212" y="833717"/>
            <a:ext cx="9505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 IMAGE ACQUSITION MODULE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E237CA-E8CB-402A-8E5E-00FBD4CA8EF2}"/>
              </a:ext>
            </a:extLst>
          </p:cNvPr>
          <p:cNvSpPr txBox="1"/>
          <p:nvPr/>
        </p:nvSpPr>
        <p:spPr>
          <a:xfrm>
            <a:off x="2946399" y="2082800"/>
            <a:ext cx="7196667" cy="2223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loads lung CT scan images from the LIDC-IDRI dataset.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select specific images for analysis.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ensures that all images are consistently formatted for further processing.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13314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D2231D8-D8FA-4B63-8125-3A1BF6074B46}"/>
              </a:ext>
            </a:extLst>
          </p:cNvPr>
          <p:cNvSpPr txBox="1"/>
          <p:nvPr/>
        </p:nvSpPr>
        <p:spPr>
          <a:xfrm>
            <a:off x="1343212" y="833717"/>
            <a:ext cx="9505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2: IMAGE PREPROCESSING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277F14-37ED-4055-89B6-6908A998FB2A}"/>
              </a:ext>
            </a:extLst>
          </p:cNvPr>
          <p:cNvSpPr txBox="1"/>
          <p:nvPr/>
        </p:nvSpPr>
        <p:spPr>
          <a:xfrm>
            <a:off x="3098800" y="1964267"/>
            <a:ext cx="7264400" cy="27832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Load images from LIDC-IDRI dataset.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Resize images to a standard dimension for uniformity.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 removal using Median Filtering to enhance clarity.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 thresholding to separate lung regions from the background.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Morphological operations (opening) to refine structures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337267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95FCE8-AEB1-4BB7-8FBD-214233DE20E8}"/>
              </a:ext>
            </a:extLst>
          </p:cNvPr>
          <p:cNvSpPr txBox="1"/>
          <p:nvPr/>
        </p:nvSpPr>
        <p:spPr>
          <a:xfrm>
            <a:off x="1343211" y="385482"/>
            <a:ext cx="9505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3: IMAGE ANALYSIS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21E4E1-DB99-417A-8FC6-D557B736199F}"/>
              </a:ext>
            </a:extLst>
          </p:cNvPr>
          <p:cNvSpPr txBox="1"/>
          <p:nvPr/>
        </p:nvSpPr>
        <p:spPr>
          <a:xfrm>
            <a:off x="2683932" y="1098674"/>
            <a:ext cx="8495056" cy="51670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Segmentation: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Active Contour Models (Snakes) to detect lung nodules.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 segmented mask that highlights the regions of interest.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that only relevant lung regions are processed.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Circular Hough Transform (CHT):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spherical lung nodules.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Highlights possible cancerous regions.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VGG-19 Deep Learning Model: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Extracts deeper features from the segmented lung image.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texture, shape, and pattern differences.</a:t>
            </a:r>
          </a:p>
        </p:txBody>
      </p:sp>
    </p:spTree>
    <p:extLst>
      <p:ext uri="{BB962C8B-B14F-4D97-AF65-F5344CB8AC3E}">
        <p14:creationId xmlns:p14="http://schemas.microsoft.com/office/powerpoint/2010/main" val="16614360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E421E98-86F3-4B69-82E1-5105CCADD725}"/>
              </a:ext>
            </a:extLst>
          </p:cNvPr>
          <p:cNvSpPr txBox="1"/>
          <p:nvPr/>
        </p:nvSpPr>
        <p:spPr>
          <a:xfrm>
            <a:off x="1343212" y="833717"/>
            <a:ext cx="9505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5: CLASSIFICATION AND SEVERITY ANALYSIS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0E9D1A-F928-4C46-B95A-62BE95E0D74D}"/>
              </a:ext>
            </a:extLst>
          </p:cNvPr>
          <p:cNvSpPr txBox="1"/>
          <p:nvPr/>
        </p:nvSpPr>
        <p:spPr>
          <a:xfrm>
            <a:off x="2726266" y="1778000"/>
            <a:ext cx="6434667" cy="388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detected nodules and their sizes.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Compute total affected lung area.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severity levels based on nodule size: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Low: Small, isolated nodules.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Medium: Moderate spread with multiple nodules.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High: Large, growing nodules.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Critical: Extensive spread indicating aggressive cancer.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75557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445780E-35E6-4E5D-88FD-CA372598567F}"/>
              </a:ext>
            </a:extLst>
          </p:cNvPr>
          <p:cNvSpPr txBox="1"/>
          <p:nvPr/>
        </p:nvSpPr>
        <p:spPr>
          <a:xfrm>
            <a:off x="1343212" y="833717"/>
            <a:ext cx="9505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6: OUTPUT VISUALIZATION AND REPORTING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334B86-4D28-4057-AF3B-F42344015728}"/>
              </a:ext>
            </a:extLst>
          </p:cNvPr>
          <p:cNvSpPr txBox="1"/>
          <p:nvPr/>
        </p:nvSpPr>
        <p:spPr>
          <a:xfrm>
            <a:off x="2472267" y="2313630"/>
            <a:ext cx="8077200" cy="2230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Overlay detected nodule boundaries on the original CT scan.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a detailed severity report.	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an intuitive graphical representation of affected areas.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final diagnosis for clinicians.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3508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1B84B0B-9859-4C53-8776-9A484393A54D}"/>
              </a:ext>
            </a:extLst>
          </p:cNvPr>
          <p:cNvSpPr txBox="1"/>
          <p:nvPr/>
        </p:nvSpPr>
        <p:spPr>
          <a:xfrm>
            <a:off x="2218765" y="321482"/>
            <a:ext cx="775446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</a:t>
            </a:r>
            <a:endParaRPr lang="en-IN" sz="2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BF3913E0-44C3-4AB5-A5D7-ADD8D6D0C17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2700867" cy="2700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AA7845-A28C-494C-B2F7-0CB591536C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4924" y="1043842"/>
            <a:ext cx="3940906" cy="501163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D5801D9-7981-AF72-CEF8-D1B388D0E517}"/>
              </a:ext>
            </a:extLst>
          </p:cNvPr>
          <p:cNvSpPr txBox="1"/>
          <p:nvPr/>
        </p:nvSpPr>
        <p:spPr>
          <a:xfrm>
            <a:off x="4501759" y="6167186"/>
            <a:ext cx="442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9: Detection Analysis(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Adenocarcinoma)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7297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96C3656-C86C-154F-BA72-DFAD4774AE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9352" y="308012"/>
            <a:ext cx="3547183" cy="555307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A01B828-3A1A-3764-E214-6176A3775129}"/>
              </a:ext>
            </a:extLst>
          </p:cNvPr>
          <p:cNvSpPr txBox="1"/>
          <p:nvPr/>
        </p:nvSpPr>
        <p:spPr>
          <a:xfrm>
            <a:off x="3738279" y="5927489"/>
            <a:ext cx="54589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10: Detection Analysis(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Squamous Cell Carcinoma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5926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0BA4218-4E47-07A5-DA98-E31E9D3582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565" y="378429"/>
            <a:ext cx="3761854" cy="545592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E6DC25-11F6-601F-AD9C-67051160C517}"/>
              </a:ext>
            </a:extLst>
          </p:cNvPr>
          <p:cNvSpPr txBox="1"/>
          <p:nvPr/>
        </p:nvSpPr>
        <p:spPr>
          <a:xfrm>
            <a:off x="3791545" y="6110239"/>
            <a:ext cx="51926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11: Detection Analysis(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Large Cell Carcinoma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6789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3DB945-1870-4ABA-974F-0B1A8A3AE9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3587" y="350008"/>
            <a:ext cx="4202343" cy="54557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E6D8A9-4FAE-0215-26E7-86CF80901431}"/>
              </a:ext>
            </a:extLst>
          </p:cNvPr>
          <p:cNvSpPr txBox="1"/>
          <p:nvPr/>
        </p:nvSpPr>
        <p:spPr>
          <a:xfrm>
            <a:off x="4645097" y="5998512"/>
            <a:ext cx="442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 12: Detection Analysis(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Benign</a:t>
            </a: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)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85132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4729F65-4E21-4CCE-AD90-785E9C09728A}"/>
              </a:ext>
            </a:extLst>
          </p:cNvPr>
          <p:cNvSpPr txBox="1"/>
          <p:nvPr/>
        </p:nvSpPr>
        <p:spPr>
          <a:xfrm>
            <a:off x="1846642" y="792274"/>
            <a:ext cx="775446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2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630B5B02-2899-47E6-A7C1-08EC4784F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9667" y="1284717"/>
            <a:ext cx="9177866" cy="5115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hybrid model combining VGG19 deep features and Circular Hough Transform.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Achieved high accuracy in classifying lung cancer types:</a:t>
            </a:r>
          </a:p>
          <a:p>
            <a:pPr marL="914400" lvl="1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Adenocarcinoma</a:t>
            </a:r>
          </a:p>
          <a:p>
            <a:pPr marL="914400" lvl="1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Squamous Cell Carcinoma</a:t>
            </a:r>
          </a:p>
          <a:p>
            <a:pPr marL="914400" lvl="1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Benign</a:t>
            </a:r>
          </a:p>
          <a:p>
            <a:pPr marL="914400" lvl="1" indent="-4572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Cell Carcinoma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diagnostic precision by leveraging pre-trained CNN features.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training time and improved model robustness.</a:t>
            </a:r>
          </a:p>
          <a:p>
            <a:pPr marL="342900" lvl="0" indent="-34290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Contributes towards early, non-invasive lung cancer detection, aiding faster medical decisions.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46568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F2AC5C-5A23-5EFC-0E55-AED4456C0AA6}"/>
              </a:ext>
            </a:extLst>
          </p:cNvPr>
          <p:cNvSpPr txBox="1"/>
          <p:nvPr/>
        </p:nvSpPr>
        <p:spPr>
          <a:xfrm>
            <a:off x="1260628" y="947968"/>
            <a:ext cx="10262588" cy="496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2600" b="1" dirty="0">
                <a:solidFill>
                  <a:schemeClr val="accent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WORK</a:t>
            </a:r>
            <a:endParaRPr lang="en-IN" sz="2600" dirty="0">
              <a:solidFill>
                <a:schemeClr val="accent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While the project has achieved its core objectives, there is significant potential to expand and improve the system further: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Extend the system from 2D slice analysis to full 3D volumetric CT scan processing to provide better spatial context and improve diagnostic accuracy.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Integrate explainable AI tools like Grad-CAM, LIME, or SHAP to visually highlight regions of the image that influenced the model's prediction.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Develop a mobile application for Android and iOS platforms to enable broader accessibility and real-time usage by healthcare workers, especially in remote areas.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Wingdings" panose="05000000000000000000" pitchFamily="2" charset="2"/>
              <a:buChar char=""/>
            </a:pPr>
            <a:r>
              <a:rPr lang="en-IN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Incorporate a real-time feedback mechanism allowing radiologists to validate, correct, or annotate predictions, fostering a continuous model improvement loop.</a:t>
            </a:r>
            <a:endParaRPr lang="en-IN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86437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4BC270F-F280-483B-8453-EFE3E88130C4}"/>
              </a:ext>
            </a:extLst>
          </p:cNvPr>
          <p:cNvSpPr txBox="1"/>
          <p:nvPr/>
        </p:nvSpPr>
        <p:spPr>
          <a:xfrm>
            <a:off x="2218765" y="646455"/>
            <a:ext cx="775446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600" b="1" dirty="0">
              <a:solidFill>
                <a:schemeClr val="accent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127A3C88-4F9C-4AEE-A7E0-635D140DC1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7805" y="1330221"/>
            <a:ext cx="6853286" cy="4197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Simonyan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Zisserman (2014), </a:t>
            </a:r>
            <a:r>
              <a:rPr lang="en-US" altLang="en-US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VGGNet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arXiv:1409.1556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Deng et al. (2009),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ImageNet: A Large-Scale Hierarchical Image DB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IEEE CVPR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Litjens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(2017),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Survey on Deep Learning in Medical Imaging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Medical Image Analysis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Sharma et al. (2020),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Lung Cancer Detection via ML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Int. Journal of Computer Applications</a:t>
            </a:r>
          </a:p>
          <a:p>
            <a:pPr marL="285750" lvl="0" indent="-28575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Setio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al. (2017), </a:t>
            </a:r>
            <a:r>
              <a:rPr lang="en-US" alt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Pulmonary Nodule Detection Comparison</a:t>
            </a:r>
            <a:b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Medical Image Analysis</a:t>
            </a:r>
          </a:p>
        </p:txBody>
      </p:sp>
    </p:spTree>
    <p:extLst>
      <p:ext uri="{BB962C8B-B14F-4D97-AF65-F5344CB8AC3E}">
        <p14:creationId xmlns:p14="http://schemas.microsoft.com/office/powerpoint/2010/main" val="34951813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9E101D1-6530-4FB4-AF06-6ECFD287268A}"/>
              </a:ext>
            </a:extLst>
          </p:cNvPr>
          <p:cNvSpPr txBox="1"/>
          <p:nvPr/>
        </p:nvSpPr>
        <p:spPr>
          <a:xfrm>
            <a:off x="3048000" y="2447203"/>
            <a:ext cx="689186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60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65514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1209</TotalTime>
  <Words>1136</Words>
  <Application>Microsoft Office PowerPoint</Application>
  <PresentationFormat>Widescreen</PresentationFormat>
  <Paragraphs>153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Corbel</vt:lpstr>
      <vt:lpstr>Courier New</vt:lpstr>
      <vt:lpstr>Times New Roman</vt:lpstr>
      <vt:lpstr>Wingdings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NEELIMA YANAMALA</dc:creator>
  <cp:lastModifiedBy>G Susmitha</cp:lastModifiedBy>
  <cp:revision>41</cp:revision>
  <dcterms:created xsi:type="dcterms:W3CDTF">2025-01-27T08:27:39Z</dcterms:created>
  <dcterms:modified xsi:type="dcterms:W3CDTF">2025-04-15T06:04:52Z</dcterms:modified>
</cp:coreProperties>
</file>